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1 min] Hoje ninguém executa nada. Eu implemento, vocês acompanham o roteiro na própria tela. Quem executa é a próxima aula, com a mesma ferramenta.
Peça agora que abram o roteiro: aluno-roteiro-aula-03.html. Ele abre sem internet e tem os seis passos com os comandos copiáveis.
Diga a tese da aula em uma frase antes de passar o slide: a mesma pergunta, feita de duas maneiras, gera duas faturas diferentes — e a diferença é uma linha de 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4 min] SLIDE-FIGURA. Fique 15 segundos em silêncio antes de falar.
Ordem de leitura, com o dedo na tela: (1) o gerador, que produz o dado que a startup produziria; (2) o S3, onde ele é gravado sem transformação nenhuma; (3) o Crawler, que abre uma amostra dos arquivos; (4) o catálogo, que passa a saber que existe uma tabela chamada corridas; (5) o Athena, que é onde a pergunta é feita e onde a conta aparece.
O que NÃO dizer ainda: que o Crawler pode errar. Isso é a discussão do slide 12.
Peça de novo que abram o roteiro. Quem não abrir agora não abre 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4 min] SLIDE-FIGURA. 15 segundos de silêncio antes de falar.
Ordem de leitura: (1) É; (2) NÃO É — é o quadrante que ninguém lê e o que mais ensina; (3) EXISTE PORQUE; (4) RECONHECE-SE POR.
Este slide existe porque o laboratório não pode pressupor que a Aula 02 pegou. Leia a definição em voz alta, devagar, uma vez, e fique em silêncio depois.
Se alguém perguntar a diferença para data warehouse: o warehouse aplica o schema na escrita e cobra por computação ligada; o lake aplica na leitura e cobra por byte lido. Não abra a comparação inteira aqui — ela é da Aula 02 e volta no Ciclo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3 min] Este slide é o contrato do semestre inteiro, não só de hoje. Repita as quatro tags em voz alta.
Se alguém perguntar por que us-east-1: é a região com o preço da tabela que usamos nas contas do curso, e é onde os números canônicos foram medidos.
Não gaste mais de 3 minutos aqui. Se a turma quiser detalhe de credencial, mande para o README do repositório.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5 min] SLIDE-FIGURA. Leia na ordem das chamadas: 1, 2, 3, 4. Deixe 15 segundos de silêncio depois de projetar, antes de começar a falar.
Este é o slide que separa demonstração de mágica: a turma lê a stack antes de ver a stack subir.
Na chamada 3, não abra a discussão — só marque que ela existe e que volta no slide 12. Se alguém já quiser discutir, responda 'guardei esse ponto para daqui a uma hora'.
10737418240 bytes = 10 GiB. Escreva no quadro se alguém perguntar a conta.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5 min] O objetivo aqui é que a turma saia sabendo o que o Crawler faz por consequência, e não por definição.
Pergunte antes de virar o slide: 'se eu apagar o Crawler deste template, o que some do catálogo?'. A resposta esperada é: a tabela e as partições, isto é, tudo.
Regra de corte: se o relógio estiver apertado, este slide vira uma frase e você segue para o Movimento 1. O que não se corta é o Movimento 4 e o destroy.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6 min] Fale enquanto roda. O deploy leva cerca de 90 segundos e o silêncio é pior que a espera.
PLANO B: se der CREATE_FAILED por nome global, use a stack de reserva eda-a03-lake-reserva, na segunda conta, que já está de pé com o dado dentro. Print de reserva: midia/prints/passo-01-stack-completa.png.
Mostre a aba Resources com os cinco recursos e a aba Outputs. Abra o ConsoleUrlAthena agora e deixe a aba aberta — economiza três cliques no Movimento 4.
Não depure na frente de 40 pessoas. Se passar de 4 minutos, abra o print e siga.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10 min] O upload é o trecho lento. Enquanto sobe, abra um dos arquivos e leia uma linha JSON em voz alta: nove campos, um evento por linha.
Aponte a chave do objeto na tela e diga por que o dt= não é enfeite: é o único motivo pelo qual, daqui a dois movimentos, a consulta não vai ler o bucket inteiro.
PLANO B: se o Wi-Fi travar, mate o sync e rode com --dias 7. Os números do slide 10 mudam de escala, mas o fator entre A e B continua o mesmo. Print de reserva: midia/prints/passo-03-chaves-s3.png.
A geração dos 112 MB leva cerca de 9 segundos. É o upload que demora, não o gerador.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10 min] ESTE É O MOVIMENTO FRÁGIL DA AULA.
PLANO B, e use sem hesitar: se o Crawler passar de 3 minutos em RUNNING, abra midia/prints/passo-04-catalogo.png e siga. NÃO ESPERE na frente da turma — o resto da aula depende do tempo, e o print mostra exatamente a mesma coisa.
Enquanto ele roda, explique o que ele está fazendo: abrindo uma amostra dos arquivos, lendo os campos, e deduzindo um tipo por campo. Diga 'amostra', não 'todos os arquivos' — isso prepara o slide 12.
Mostre PartitionKeys na saída do get-table. É a prova de que o dt= da chave virou estrutura de consulta.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12 min] SLIDE-FIGURA e o movimento que não se corta.
Ordem de leitura: (1) as duas consultas, apontando a única diferença entre elas; (2) a barra A; (3) a barra B; (4) o texto da fatura. 15 segundos de silêncio depois de projetar as barras.
Rode as duas ao vivo e leia o Data scanned no painel, em voz alta, número por número. Esta é a evidência da aula inteira.
Use o gerador para descobrir a data de hoje: ele imprime a linha WHERE pronta ao terminar. Copie de lá, não digite a data de cabeça.
PLANO B: midia/prints/passo-05-data-scanned.png. Se só um print sobreviver, é este.
Não entregue ainda a explicação de por que B lê menos. Deixe a turma dizer.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8 min] Este movimento arma a discussão do próximo slide. Rode C e D ao vivo.
Em C, mostre lado a lado: mesmo resultado, Data scanned diferente. Pergunte à turma o que mudou. A resposta é onde o filtro mora.
Em D, some as duas coisas em voz alta: o Crawler acertou 98,5% e nada avisou sobre os outros 1,5%. Não julgue ainda — a próxima aula é que cobra o preço da alternativa.
Regra de corte: se o relógio estourou, rode só C, mostre o Data scanned e cite D em uma frase. PLANO B: midia/prints/passo-06-nulos.png.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5 min] A provocação nasce do código, não do slide: são as duas linhas de SchemaChangePolicy que a turma leu no Bloco 0 e ninguém discutiu.
SE A TURMA CONVERGIR RÁPIDO DEMAIS — e ela converge em B, porque B soa responsável — ASSUMA A POSIÇÃO A. Pergunte: são 400 fontes e 6 engenheiros; quem escreve os 400 DDLs, e quem os mantém quando a origem muda?
Onde isso vai parar, e diga isso à turma: a metade técnica volta na Aula 10, quando tratarmos de evolução de schema; a outra metade volta na Aula 26, em qualidade de dado. E o Exercício 01 cobra o preço de B — lá não existe Crawler.
Não feche com um veredito. Feche dizendo que as duas posições têm um custo, e que na próxima aula eles pagam o de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7 min] Rode o destroy ao vivo, com o Cost Explorer aberto numa aba ao lado.
O destroy.sh esvazia o bucket antes de apagar a stack — sem isso o DELETE_FAILED aparece no bucket, que é o erro mais comum de quem tenta em casa.
Mostre o grep vazio no fim. É a evidência deste movimento: a turma precisa ver a conta zerar, não ouvir que ela zerou.
US$ 0,17 ainda é aritmética. Depois do ensaio em conta limpa, o número do Cost Explorer substitui este, no slide e no roteiro. Diga isso à turma: o número medido ganha do estimado, sempre.
ESTE MOVIMENTO NÃO SE CORTA.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5 min] Distribua o enunciado AGORA, não na próxima aula. O prazo do exercício começa hoje.
Leia a linha do Crawler em voz alta e pare nela: template com Crawler não é uma entrega pior, é a entrega de hoje, e ela já foi feita por mim.
Diga os três checkpoints da próxima aula: 20 min o deploy passou; 40 min a consulta responde; 75 min o verifica.sh verde e o PR aberto.
Se sobrar tempo, mostre o esqueleto aberto por 30 segundos — só para eles verem que as decisões vêm marcadas.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4 min] A rubrica é pública desde hoje e não muda até a entrega.
Diga o que NÃO conta na nota: elegância do YAML, número de recursos, e ter chegado à mesma resposta do gabarito. Uma decisão diferente da minha, bem justificada, vale 10; uma decisão igual à minha, sem justificativa, não passa de 8.
Avise os quatro erros que mais reprovam: bucket órfão depois do destroy; Location de partição que não bate com a chave real (o Athena devolve zero linha sem erro); teto abaixo de 10.485.760, que o Athena recusa; teto acima de 117.455.962, em que o freio nunca toca.
Lembre que o verifica.sh roda na conta deles antes da entrega. A nota não é surpresa.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1 min] Feche retomando onde a aula está no ciclo: as Aulas 01 e 02 deram o vocabulário, hoje foi o laboratório, e a próxima aula é a de vocês.
Repita que o enunciado já está com eles e que o roteiro de hoje continua servindo — os seis passos são os mesmos, menos o Crawler.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kg/assets/cesar-school-negati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867213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103120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CIÊNCIA DA COMPUTAÇÃO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77240" y="2432304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77240" y="3163824"/>
            <a:ext cx="10634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03 — Lab-demo 01: Data Lake mínimo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77240" y="3566160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 demonstrado · Ciclo 1 — Do dado ao valor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7240" y="3803904"/>
            <a:ext cx="1371600" cy="50292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4133088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Carlos Diego Cavalcanti Pereira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4407408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Bacharelado em Ciência da Computação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345936"/>
            <a:ext cx="10634472" cy="10973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0080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03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00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603504"/>
            <a:ext cx="917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 01 · O ALVO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63447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vamos construir hoje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400032" y="1395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[tempo: 4 min]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487424"/>
            <a:ext cx="1063447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recursos, um comando de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 uma consulta que mostra na tela quantos bytes ela leu.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1936242"/>
            <a:ext cx="1863547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091690"/>
            <a:ext cx="153436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41832" y="2367534"/>
            <a:ext cx="1534363" cy="359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518,4 mil corridas · 30 dias · </a:t>
            </a:r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--seed 42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40787" y="245287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69971" y="1936242"/>
            <a:ext cx="1863547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34563" y="2091690"/>
            <a:ext cx="153436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34563" y="2367534"/>
            <a:ext cx="1534363" cy="359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raw/corridas/dt=AAAA-MM-DD/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30 objetos · 112,21 MB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33518" y="245287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62702" y="1936242"/>
            <a:ext cx="1863547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27294" y="2091690"/>
            <a:ext cx="153436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Glue Crawler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327294" y="2367534"/>
            <a:ext cx="1534363" cy="359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os arquivos e escreve o schema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26250" y="245287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55434" y="1936242"/>
            <a:ext cx="1863547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20026" y="2091690"/>
            <a:ext cx="153436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Catalog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520026" y="2367534"/>
            <a:ext cx="1534363" cy="359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eda_a03_raw.corridas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9 colunas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218981" y="245287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548165" y="1936242"/>
            <a:ext cx="1863547" cy="1325880"/>
          </a:xfrm>
          <a:prstGeom prst="rect">
            <a:avLst/>
          </a:prstGeom>
          <a:solidFill>
            <a:srgbClr val="FFFFFF"/>
          </a:solidFill>
          <a:ln w="22225">
            <a:solidFill>
              <a:srgbClr val="F15A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12757" y="2091690"/>
            <a:ext cx="153436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Athena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712757" y="2367534"/>
            <a:ext cx="1534363" cy="359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resposta e o </a:t>
            </a:r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scanned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7240" y="3737610"/>
            <a:ext cx="41148" cy="93268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8408" y="3856482"/>
            <a:ext cx="10213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PERGUNTA QUE A STACK PRECISA RESPONDER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78408" y="4075938"/>
            <a:ext cx="10213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bairros do Recife concentram corridas na madrugada, e desde quando? Hoje essa pergunta é um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40 minutos na réplica do Postgres, rodado de madrugada por um analista — e que, uma vez por mês, derruba a réplica junto.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345936"/>
            <a:ext cx="10634472" cy="10973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0080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03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00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603504"/>
            <a:ext cx="917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RETOMADA · VISTO NA AULA 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63447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lake: a definição que a stack de hoje materializa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400032" y="1395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[tempo: 4 min]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755648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121408"/>
            <a:ext cx="5161788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267712"/>
            <a:ext cx="47777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69264" y="2487168"/>
            <a:ext cx="47777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repositório de arquivos em que o dado é gravado no formato em que chegou, e o schema só é aplicado no momento da leitura.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49924" y="2121408"/>
            <a:ext cx="5161788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9924" y="2121408"/>
            <a:ext cx="41148" cy="1243584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1948" y="2267712"/>
            <a:ext cx="47777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41948" y="2487168"/>
            <a:ext cx="47777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banco de dados. O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hoje não roda dentro do S3: o S3 devolve bytes, e quem sabe que aqueles bytes são 9 colunas é o catálogo.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3551530"/>
            <a:ext cx="5161788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97834"/>
            <a:ext cx="47777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 PORQUE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69264" y="3917290"/>
            <a:ext cx="47777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Guardar 1 TB no S3 custa cerca de US$ 23 por mês. O mesmo TB num Redshift ligado o tempo todo custa cerca de US$ 780. Guardar antes de saber a pergunta ficou barato.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49924" y="3551530"/>
            <a:ext cx="5161788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1948" y="3697834"/>
            <a:ext cx="47777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RECONHECE-SE POR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41948" y="3917290"/>
            <a:ext cx="47777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arquivos brutos continuam lá depois da transformação, e a mesma pasta pode ser lida por dois motores diferentes sem cópia.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5032858"/>
            <a:ext cx="106344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5151730"/>
            <a:ext cx="10122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palavras vão aparecer nos comandos de hoje: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(onde ficam os nomes das colunas),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partição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 pasta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dt=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divide o dado por dia) e </a:t>
            </a:r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scanned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(quantos bytes a consulta leu, que é o que o Athena cobra).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345936"/>
            <a:ext cx="10634472" cy="10973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0080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03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00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603504"/>
            <a:ext cx="917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OPERACIONAL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63447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Pré-requisitos e regras da conta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400032" y="1395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[tempo: 3 min]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1812" y="1839849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755648"/>
            <a:ext cx="1036015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 e região.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Conta de laboratório da disciplina, região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us-east-1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Toda stack do semestre sobe nesta região — preço e disponibilidade de serviço mudam entre regiões.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1812" y="2490597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406396"/>
            <a:ext cx="1036015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Ferramentas.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AWS CLI v2 autenticada (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sts get-caller-identity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responde) e Python 3.10 ou superior. Nada mais é instalado hoje.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81812" y="3141345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057144"/>
            <a:ext cx="103601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Orçamento.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Teto de US$ 2,00 por execução do laboratório e um alarme de faturamento em US$ 5,00 na conta.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1812" y="3544443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460242"/>
            <a:ext cx="1036015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obrigatórias em todo recurso: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Disciplina=EDA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Aula=03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Sem elas não há como saber de quem é o bucket que ficou de pé.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4211574"/>
            <a:ext cx="41148" cy="713232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330446"/>
            <a:ext cx="10213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stack de hoje é derrubada no fim da aula, na frente de vocês. Recurso que sobrevive ao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destroy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continua cobrando, e quem paga é a conta da disciplina.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345936"/>
            <a:ext cx="10634472" cy="10973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0080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03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00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603504"/>
            <a:ext cx="917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0 · LER ANTES DE RODAR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360152" y="45720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914400"/>
            <a:ext cx="940003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cinco recursos, lidos antes de subir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400032" y="1395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[tempo: 5 min]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755648"/>
            <a:ext cx="6172200" cy="3621024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" y="1901952"/>
            <a:ext cx="5879592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LakeBucket: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AWS::S3::Bucket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Properties: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BucketName: !Sub "eda-a03-lake-${Sufixo}"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RawDatabase: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AWS::Glue::Database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CorridasCrawler: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AWS::Glue::Crawler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Properties: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SchemaChangePolicy: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15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UpdateBehavior: UPDATE_IN_DATABASE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AnalistasWorkgroup: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AWS::Athena::WorkGroup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Properties: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BytesScannedCutoffPerQuery: 10737418240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296912" y="17922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89520" y="1810512"/>
            <a:ext cx="3803904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bucket é o lake inteiro. O nome sai do parâmetro </a:t>
            </a:r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Sufixo</a:t>
            </a:r>
            <a:pPr algn="l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 </a:t>
            </a:r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pPr algn="l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nenhum nome de recurso está fixo no arquivo.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96912" y="259141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89520" y="2609698"/>
            <a:ext cx="3803904" cy="429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database não guarda dado. Ele guarda onde o dado está e que colunas ele tem.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96912" y="31760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89520" y="3194304"/>
            <a:ext cx="3803904" cy="429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Estas duas linhas decidem que o schema será inferido, e não declarado. Volto a elas no fim da aula.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96912" y="376062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89520" y="3778910"/>
            <a:ext cx="3803904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teto faz o Athena recusar qualquer consulta que leia mais de 10 GiB. Hoje ele vem pronto; na Aula 04 vocês calculam o de vocês.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345936"/>
            <a:ext cx="10634472" cy="10973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0080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03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00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603504"/>
            <a:ext cx="917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0 · AS AUSÊNCIAS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360152" y="45720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914400"/>
            <a:ext cx="940003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este template deliberadamente não faz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400032" y="1395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[tempo: 5 min]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1812" y="1839849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755648"/>
            <a:ext cx="1036015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há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AWS::Glue::Table</a:t>
            </a:r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tabela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corridas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vai aparecer no catálogo sem que ninguém a tenha declarado. Quem a cria é o Crawler, no Movimento 3.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81812" y="2490597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406396"/>
            <a:ext cx="103601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há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AWS::Glue::Partition</a:t>
            </a:r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30 partições também nascem do Crawler, a partir das pastas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dt=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o Movimento 2 gravar no S3.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81812" y="2893695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809494"/>
            <a:ext cx="1036015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há recurso que cobre por hora ligada.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Sem cluster, sem NAT Gateway, sem endpoint de interface. Depois do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destroy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conta para em zero.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1812" y="3544443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460242"/>
            <a:ext cx="1036015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há dado dentro do bucket.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entrega um bucket vazio; o dado entra no Movimento 2, e é lá que a chave do objeto passa a importar.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4211574"/>
            <a:ext cx="41148" cy="713232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4330446"/>
            <a:ext cx="10213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dois recursos que faltam aqui —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AWS::Glue::Table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AWS::Glue::Partition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são exatamente os dois que vocês vão declarar no Exercício 01. Traduzir este template linha a linha não resolve a próxima aula.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345936"/>
            <a:ext cx="10634472" cy="10973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0080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03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00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603504"/>
            <a:ext cx="917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MOVIMENTO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360152" y="45720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914400"/>
            <a:ext cx="940003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Subir a stack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400032" y="1395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[tempo: 6 min]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755648"/>
            <a:ext cx="41148" cy="694944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874520"/>
            <a:ext cx="10213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INTENÇÃO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78408" y="2093976"/>
            <a:ext cx="10213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fim deste movimento existe uma stack com cinco recursos e um bucket vazio esperando o dado.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2651760"/>
            <a:ext cx="10634472" cy="748284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544" y="2798064"/>
            <a:ext cx="10341864" cy="455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labs/aula-03-lake-minimo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./infra/deploy.sh &lt;turma&gt;      # ex.: ./infra/deploy.sh 2027-1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1812" y="3718621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637788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Evidência.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CREATE_COMPLETE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console e cinco recursos na aba *Resources* da stack.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1812" y="4111813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030980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Evidência.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Os Outputs preenchidos: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BucketName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DatabaseName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WorkgroupName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TetoBytesPorConsulta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as três URLs de console.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506468"/>
            <a:ext cx="41148" cy="694944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4625340"/>
            <a:ext cx="10213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ARMADILHA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78408" y="4844796"/>
            <a:ext cx="10213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 de bucket é global na AWS inteira. Se o nome já existir, o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CREATE_FAILED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vem no primeiro recurso: troque o sufixo e rode de novo.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345936"/>
            <a:ext cx="10634472" cy="10973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0080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03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00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603504"/>
            <a:ext cx="917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MOVIMENTO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360152" y="45720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914400"/>
            <a:ext cx="940003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Ingerir 30 dias — na chave certa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400032" y="1395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[tempo: 10 min]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755648"/>
            <a:ext cx="41148" cy="694944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874520"/>
            <a:ext cx="10213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INTENÇÃO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78408" y="2093976"/>
            <a:ext cx="10213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fim deste movimento existem 30 objetos no S3, um por dia, e o dia está na chave do objeto.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2651760"/>
            <a:ext cx="10634472" cy="748284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544" y="2798064"/>
            <a:ext cx="10341864" cy="455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app/gerador-eventos.py --dias 30 --taxa 12 --seed 42 --saida ./saida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s3 sync ./saida "s3://$BUCKET/raw/corridas/" --region us-east-1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1812" y="3718621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637788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Evidência.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s3 ls --recursive --summarize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devolve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objetos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117.655.606 bytes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1812" y="4111813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030980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Evidência.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chave de cada objeto termina em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raw/corridas/dt=AAAA-MM-DD/parte-0001.json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506468"/>
            <a:ext cx="41148" cy="694944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4625340"/>
            <a:ext cx="10213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ARMADILHA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78408" y="4844796"/>
            <a:ext cx="10213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dt=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sair da chave, o Crawler registra a tabela sem partição nenhuma e a consulta do Movimento 4 passa a varrer o bucket inteiro.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345936"/>
            <a:ext cx="10634472" cy="10973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0080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03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00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603504"/>
            <a:ext cx="917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MOVIMENTO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360152" y="45720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914400"/>
            <a:ext cx="940003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Descobrir o schema com o Crawler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400032" y="1395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[tempo: 10 min]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755648"/>
            <a:ext cx="41148" cy="694944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874520"/>
            <a:ext cx="10213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INTENÇÃO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78408" y="2093976"/>
            <a:ext cx="10213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fim deste movimento o catálogo tem uma tabela com 9 colunas e 30 partições, e ninguém escreveu um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2651760"/>
            <a:ext cx="10634472" cy="748284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544" y="2798064"/>
            <a:ext cx="10341864" cy="455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glue start-crawler --name eda-a03-corridas --region us-east-1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glue get-table --database-name eda_a03_raw --name corridas --region us-east-1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1812" y="3718621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637788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Evidência.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get-table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devolve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colunas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 a chave de partição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aparece em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PartitionKeys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1812" y="4111813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030980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Evidência.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coluna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foi inferida como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Guarde este tipo: ele volta no Movimento 5.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506468"/>
            <a:ext cx="41148" cy="694944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4625340"/>
            <a:ext cx="10213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ARMADILHA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78408" y="4844796"/>
            <a:ext cx="10213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Crawler cobra no mínimo 10 minutos de DPU mesmo quando termina em 2. É ele que responde por 88% do custo desta aula.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345936"/>
            <a:ext cx="10634472" cy="10973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0080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03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00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603504"/>
            <a:ext cx="917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MOVIMENTO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360152" y="45720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914400"/>
            <a:ext cx="940003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mesma pergunta, duas faturas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400032" y="1395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[tempo: 12 min]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755648"/>
            <a:ext cx="10634472" cy="728472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" y="1901952"/>
            <a:ext cx="10341864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  SELECT bairro, count(*) FROM corridas GROUP BY bairro ORDER BY 2 DESC LIMIT 10;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B  SELECT bairro, count(*) FROM corridas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5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dt = 'AAAA-MM-DD'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GROUP BY bairro ...;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758440"/>
            <a:ext cx="10634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SCANNED · PAINEL DE EXECUÇÃO DO ATHENA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77240" y="31059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sem filtro de partição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520440" y="3142488"/>
            <a:ext cx="5879592" cy="237744"/>
          </a:xfrm>
          <a:prstGeom prst="rect">
            <a:avLst/>
          </a:prstGeom>
          <a:solidFill>
            <a:srgbClr val="8A8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0" y="30876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112,21 MB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5814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— com </a:t>
            </a:r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520440" y="3617976"/>
            <a:ext cx="195969" cy="237744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26137" y="35631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3,74 MB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038600"/>
            <a:ext cx="10634472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duas consultas devolvem as mesmas 10 linhas. A diferença entre elas é uma linha de WHERE, e ela vale 30× em bytes lidos.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" y="4456176"/>
            <a:ext cx="41148" cy="950976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4575048"/>
            <a:ext cx="102138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fatura, B cobra o mínimo de 10 MB por consulta, então o fator cobrado hoje é 11×, e não 30×. A US$ 5,00 por TB varrido, A custa US$ 0,00056 — ninguém liga. Quando o lake chegar a 1,1 TB, daqui a cerca de 18 meses, A passa a custar US$ 5,34 por execução; num painel que roda de 5 em 5 minutos, isso dá cerca de US$ 46 mil por ano.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345936"/>
            <a:ext cx="10634472" cy="10973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0080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03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00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603504"/>
            <a:ext cx="917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MOVIMENTO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360152" y="45720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914400"/>
            <a:ext cx="940003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erro que não dá erro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400032" y="1395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[tempo: 8 min]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755648"/>
            <a:ext cx="10634472" cy="728472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" y="1901952"/>
            <a:ext cx="10341864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  ... FROM corridas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5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data_corrida LIKE 'AAAA-MM-DD%'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GROUP BY bairro ...;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  SELECT count(*) FROM corridas WHERE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5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 IS NULL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1812" y="2820985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740152"/>
            <a:ext cx="10360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devolve o resultado de B e cobra o preço de A: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112,21 MB.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data_corrida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uma coluna dentro do arquivo;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a pasta. O Athena só decide pular um arquivo antes de abri-lo se o filtro estiver na chave do objeto.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" y="3451921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371088"/>
            <a:ext cx="10360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devolve cerca de 1,5% das linhas.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Crawler leu uma amostra e concluiu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nos eventos em que o produtor manda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"17,82"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com vírgula, o valor não converte e vira nulo.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4084320"/>
            <a:ext cx="41148" cy="694944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4203192"/>
            <a:ext cx="10213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ARMADILHA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78408" y="4422648"/>
            <a:ext cx="10213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das duas consultas devolve mensagem de erro. Os únicos sinais são o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scanned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painel e a contagem de nulos.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345936"/>
            <a:ext cx="10634472" cy="10973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0080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03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00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603504"/>
            <a:ext cx="917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PARADA PARA DISCUSSÃO · 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63447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Crawler infere o schema. Isso é uma boa ideia?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400032" y="1395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[tempo: 5 min]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755648"/>
            <a:ext cx="41148" cy="713232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874520"/>
            <a:ext cx="10213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Vocês viram o Crawler acertar as 9 colunas no Movimento 3, e viram no Movimento 5 que 1,5% dos eventos não converteram e viraram nulo sem aviso. Escolham um lado.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724912"/>
            <a:ext cx="5134356" cy="176692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880360"/>
            <a:ext cx="47685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POSIÇÃO 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60120" y="3099816"/>
            <a:ext cx="4768596" cy="233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Deixe o Crawler inferir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425038"/>
            <a:ext cx="4768596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plataforma com 400 fontes e 6 engenheiros não tem quem escreva 400 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O Crawler descobre o schema em minutos e acompanha mudanças da origem sem que ninguém abra um chamado.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77356" y="2724912"/>
            <a:ext cx="5134356" cy="176692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0236" y="2880360"/>
            <a:ext cx="47685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POSIÇÃO B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60236" y="3099816"/>
            <a:ext cx="4768596" cy="233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 o schema você mesmo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60236" y="3425038"/>
            <a:ext cx="4768596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declarado é contrato: 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decimal(10,2)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porque o negócio decidiu isso. Quando a origem mandar 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"17,82"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carga falha alto, e alguém arruma a origem em vez de gravar nulo em silêncio.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4729582"/>
            <a:ext cx="106344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4848454"/>
            <a:ext cx="10122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minutos para escolher um lado, 3 minutos de confronto. Responder "os dois" não vale.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345936"/>
            <a:ext cx="10634472" cy="10973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0080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03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00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603504"/>
            <a:ext cx="917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63447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isso custou — e o </a:t>
            </a:r>
            <a:pPr algn="l" indent="0" marL="0">
              <a:lnSpc>
                <a:spcPct val="112000"/>
              </a:lnSpc>
              <a:buNone/>
            </a:pPr>
            <a:r>
              <a:rPr lang="en-US" sz="24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destroy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400032" y="1395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[tempo: 7 min]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755648"/>
            <a:ext cx="5125212" cy="22235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920240"/>
            <a:ext cx="47228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DE REFERÊNCIA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78408" y="2139696"/>
            <a:ext cx="47228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US$ 0,17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78408" y="2706624"/>
            <a:ext cx="47228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execução completa do laboratório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78408" y="3007614"/>
            <a:ext cx="472287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 é o Crawler: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 DPU × 10 min × US$ 0,44 por DPU-hora = US$ 0,1467. O Athena, com as quatro consultas, fica abaixo de US$ 0,01.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78408" y="3534918"/>
            <a:ext cx="4722876" cy="10973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608070"/>
            <a:ext cx="4722876" cy="188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Aritmética — falta o Cost Explorer. Medido no ensaio: 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US$ ______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91072" y="1833113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0820" y="1755648"/>
            <a:ext cx="4850892" cy="455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S3: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US$ 0,023 por GB-mês. Os 112 MB de hoje custam menos de um centavo por mês.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91072" y="2444237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0820" y="2366772"/>
            <a:ext cx="4850892" cy="455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Athena: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US$ 5,00 por TB varrido, com mínimo de 10 MB por consulta. DDL e consulta que falha não são cobradas.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91072" y="3055361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0820" y="2977896"/>
            <a:ext cx="4850892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Glue: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US$ 0,44 por DPU-hora, com mínimo de 10 minutos no Crawler.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91072" y="3438647"/>
            <a:ext cx="78638" cy="7863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60820" y="3361182"/>
            <a:ext cx="4850892" cy="455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cobra por hora ligada.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Depois do 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destroy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conta para em zero.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86500" y="4036314"/>
            <a:ext cx="5125212" cy="728472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32804" y="4182618"/>
            <a:ext cx="4832604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./infra/destroy.sh &lt;turma&gt;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s3 ls | grep eda-a03   # não devolve nada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345936"/>
            <a:ext cx="10634472" cy="10973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0080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03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00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603504"/>
            <a:ext cx="917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AULA · EXERCÍCIO 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63447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schema é seu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400032" y="1395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[tempo: 5 min]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487424"/>
            <a:ext cx="1063447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próxima aula não existe Crawler. Vocês declaram o schema, registram a partição e põem um teto na conta.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36242"/>
          <a:ext cx="1063447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151376"/>
                <a:gridCol w="4151376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5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 01 — hoje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5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Exercício 01 — Aula 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5A2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Ferramenta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CloudFormation, eu no volante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mesmo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CloudFormation, vocês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inferido pelo Crawler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declarado em 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AWS::Glue::Table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descoberta pelo Crawler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declarada em 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AWS::Glue::Partition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Crawler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 o centro da aula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apagado do template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Teto de bytes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GiB, já vem pronto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calculado da partição que vocês medirem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Limpeza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database leva a tabela junto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stack conhece a tabela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77240" y="4459986"/>
            <a:ext cx="41148" cy="713232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8408" y="4578858"/>
            <a:ext cx="10213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enunciado está sendo distribuído agora: 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aluno-enunciado-aula-04.html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junto com o esqueleto do template. Ele abre sem internet. O prazo é o fim da próxima aula.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345936"/>
            <a:ext cx="10634472" cy="10973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0080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03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00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603504"/>
            <a:ext cx="917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RUBRICA PÚBLICA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63447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Critérios de aceite do Exercício 01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400032" y="1395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[tempo: 4 min]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55648"/>
          <a:ext cx="10634472" cy="914400"/>
        </p:xfrm>
        <a:graphic>
          <a:graphicData uri="http://schemas.openxmlformats.org/drawingml/2006/table">
            <a:tbl>
              <a:tblPr/>
              <a:tblGrid>
                <a:gridCol w="6976872"/>
                <a:gridCol w="2194560"/>
                <a:gridCol w="14630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Critério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5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é verificado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5A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5A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 Crawler: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não há 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AWS::Glue::Crawler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; há 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AWS::Glue::Table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verifica.sh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elimina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 cinco outputs de contrato existem e estão preenchidos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verifica.sh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AWS::Glue::Table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com schema declarado (≥ 8 colunas) e partição 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Glue 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AWS::Glue::Partition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apontando para a chave certa (≥ 3)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Glue 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teto mata a consulta larga e deixa passar a estreita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Athena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destroy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limpo: nenhum recurso órfão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--pos-destroy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DECISOES.md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uma justificativa por decisão marcada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leitura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4425696"/>
            <a:ext cx="41148" cy="932688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78408" y="4544568"/>
            <a:ext cx="10213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COMEÇAR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78408" y="4764024"/>
            <a:ext cx="10213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Consomem crédito: o Crawler (por DPU-hora) e o Athena (por byte varrido). Para praticar sem consumir a conta da disciplina, use o AWS Skill Builder (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skillbuilder.aws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e os laboratórios guiados do AWS Workshop Studio (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workshops.aws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kg/assets/cesar-school-positi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867213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377440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Dúvidas?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77240" y="3291840"/>
            <a:ext cx="1371600" cy="50292"/>
          </a:xfrm>
          <a:prstGeom prst="rect">
            <a:avLst/>
          </a:prstGeom>
          <a:solidFill>
            <a:srgbClr val="F15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3602736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CESAR School · Graduação em Ciência da Computação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77240" y="3931920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Carlos Diego Cavalcanti Pereira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4206240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cdcp@cesar.school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2026-08-11T13:01:36Z</dcterms:created>
  <dcterms:modified xsi:type="dcterms:W3CDTF">2026-08-11T13:01:36Z</dcterms:modified>
</cp:coreProperties>
</file>